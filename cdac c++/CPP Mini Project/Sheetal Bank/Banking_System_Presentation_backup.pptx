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0"/>
  </p:notesMasterIdLst>
  <p:sldIdLst>
    <p:sldId id="256" r:id="rId2"/>
    <p:sldId id="257" r:id="rId3"/>
    <p:sldId id="258" r:id="rId4"/>
    <p:sldId id="259" r:id="rId5"/>
    <p:sldId id="260" r:id="rId6"/>
    <p:sldId id="261" r:id="rId7"/>
    <p:sldId id="262" r:id="rId8"/>
    <p:sldId id="263" r:id="rId9"/>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77" d="100"/>
          <a:sy n="77" d="100"/>
        </p:scale>
        <p:origin x="243" y="39"/>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10"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77966583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WHAT TO SAY (Slide 1):</a:t>
            </a:r>
          </a:p>
          <a:p>
            <a:r>
              <a:t>'Good morning/afternoon respected examiners and professors. Today, I am presenting my C++ Mini Project: a Bank Management System. The goal of this project is to simulate core banking operations like opening accounts, depositing, withdrawing, and transferring funds, while demonstrating fundamental Object-Oriented Programming (OOP) concepts in C++.'</a:t>
            </a: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WHAT TO SAY (Slide 2):</a:t>
            </a:r>
          </a:p>
          <a:p>
            <a:r>
              <a:t>'The primary objective of this project is threefold: First, to create a functional banking program for common operations. Second, to apply core C++ concepts like classes and inheritance in a clean, readable structure. Third, to use file handling so data is not lost when the program closes.'</a:t>
            </a: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WHAT TO SAY (Slide 3):</a:t>
            </a:r>
          </a:p>
          <a:p>
            <a:r>
              <a:t>'Our system provides 6 core operations through an interactive console menu. Users can open accounts, deposit, withdraw with minimum balance checks, check their balance, transfer money between accounts, and view all registered accounts in a clean table.'</a:t>
            </a: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WHAT TO SAY (Slide 4):</a:t>
            </a:r>
          </a:p>
          <a:p>
            <a:r>
              <a:t>'This slide highlights the primary C++ features we utilized: 1. Classes and Objects for modular structure. 2. Encapsulation to protect sensitive account data. 3. Single Inheritance for code reusability. 4. Function Overriding for account-specific withdrawal rules. 5. STL Vector for dynamic array memory management. 6. File Handling using ifstream and ofstream to save data.'</a:t>
            </a: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WHAT TO SAY (Slide 5):</a:t>
            </a:r>
          </a:p>
          <a:p>
            <a:r>
              <a:t>'Here is our class architecture: The base class 'Account' encapsulates common fields like account number, holder name, and balance. The derived class 'BankAccount' inherits from 'Account' using public inheritance. It adds 'accountType' and overrides the 'withdraw()' method to check that Savings accounts maintain at least $500.'</a:t>
            </a: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WHAT TO SAY (Slide 6):</a:t>
            </a:r>
          </a:p>
          <a:p>
            <a:r>
              <a:t>'All customer records are saved in 'accounts.txt' using standard C++ file streams. At startup, ifstream reads existing accounts into memory. After every transaction or upon exit, ofstream writes all accounts back to the text file. This ensures our application has permanent data storage.'</a:t>
            </a:r>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WHAT TO SAY (Slide 7):</a:t>
            </a:r>
          </a:p>
          <a:p>
            <a:r>
              <a:t>'This slide illustrates the flow of execution: The program initializes by reading accounts from disk. It then displays an interactive menu. User inputs are validated to avoid invalid type errors. A switch-case statement directs execution to the appropriate banking function, and all changes are immediately saved to disk.'</a:t>
            </a:r>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WHAT TO SAY (Slide 8):</a:t>
            </a:r>
          </a:p>
          <a:p>
            <a:r>
              <a:t>'In conclusion, this project provides a clean, practical demonstration of C++ Object-Oriented Programming and file handling. It successfully models core banking workflows while remaining simple to understand, explain, and maintain. Thank you, and I am now ready to answer any questions!'</a:t>
            </a: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10/13/2026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10/13/2026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10/13/2026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10/13/2026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10/13/2026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10/13/2026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10/13/2026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10/13/2026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10/13/2026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10/13/2026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10/13/2026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10/13/2026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0F172A"/>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137160"/>
          </a:xfrm>
          <a:prstGeom prst="rect">
            <a:avLst/>
          </a:prstGeom>
          <a:solidFill>
            <a:srgbClr val="0284C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1097280" y="1645920"/>
            <a:ext cx="9966960" cy="3291840"/>
          </a:xfrm>
          <a:prstGeom prst="rect">
            <a:avLst/>
          </a:prstGeom>
          <a:noFill/>
        </p:spPr>
        <p:txBody>
          <a:bodyPr wrap="square">
            <a:spAutoFit/>
          </a:bodyPr>
          <a:lstStyle/>
          <a:p>
            <a:pPr>
              <a:spcAft>
                <a:spcPts val="1200"/>
              </a:spcAft>
              <a:defRPr sz="1300" b="1">
                <a:solidFill>
                  <a:srgbClr val="F59E0B"/>
                </a:solidFill>
              </a:defRPr>
            </a:pPr>
            <a:r>
              <a:t>★ C++ OBJECT-ORIENTED PROGRAMMING MINI PROJECT ★</a:t>
            </a:r>
          </a:p>
          <a:p>
            <a:pPr>
              <a:spcAft>
                <a:spcPts val="1400"/>
              </a:spcAft>
              <a:defRPr sz="4400" b="1">
                <a:solidFill>
                  <a:srgbClr val="FFFFFF"/>
                </a:solidFill>
              </a:defRPr>
            </a:pPr>
            <a:r>
              <a:t>Bank Management System</a:t>
            </a:r>
          </a:p>
          <a:p>
            <a:pPr>
              <a:defRPr sz="1700">
                <a:solidFill>
                  <a:srgbClr val="CBD5E1"/>
                </a:solidFill>
              </a:defRPr>
            </a:pPr>
            <a:r>
              <a:t>A clean, beginner-friendly console application demonstrating Core OOP Concepts, Single Inheritance, Encapsulation, and File Handling in C++.</a:t>
            </a:r>
          </a:p>
        </p:txBody>
      </p:sp>
      <p:sp>
        <p:nvSpPr>
          <p:cNvPr id="4" name="Rounded Rectangle 3"/>
          <p:cNvSpPr/>
          <p:nvPr/>
        </p:nvSpPr>
        <p:spPr>
          <a:xfrm>
            <a:off x="1097280" y="5120640"/>
            <a:ext cx="2377440" cy="822960"/>
          </a:xfrm>
          <a:prstGeom prst="roundRect">
            <a:avLst/>
          </a:prstGeom>
          <a:solidFill>
            <a:srgbClr val="1E293B"/>
          </a:solidFill>
          <a:ln w="19050">
            <a:solidFill>
              <a:srgbClr val="0284C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1097280" y="5120640"/>
            <a:ext cx="2377440" cy="822960"/>
          </a:xfrm>
          <a:prstGeom prst="rect">
            <a:avLst/>
          </a:prstGeom>
          <a:noFill/>
        </p:spPr>
        <p:txBody>
          <a:bodyPr wrap="square" anchor="ctr">
            <a:spAutoFit/>
          </a:bodyPr>
          <a:lstStyle/>
          <a:p>
            <a:pPr algn="ctr">
              <a:defRPr sz="1300" b="1">
                <a:solidFill>
                  <a:srgbClr val="0284C7"/>
                </a:solidFill>
              </a:defRPr>
            </a:pPr>
            <a:r>
              <a:t>Classes &amp; Objects</a:t>
            </a:r>
          </a:p>
        </p:txBody>
      </p:sp>
      <p:sp>
        <p:nvSpPr>
          <p:cNvPr id="6" name="Rounded Rectangle 5"/>
          <p:cNvSpPr/>
          <p:nvPr/>
        </p:nvSpPr>
        <p:spPr>
          <a:xfrm>
            <a:off x="3794760" y="5120640"/>
            <a:ext cx="2377440" cy="822960"/>
          </a:xfrm>
          <a:prstGeom prst="roundRect">
            <a:avLst/>
          </a:prstGeom>
          <a:solidFill>
            <a:srgbClr val="1E293B"/>
          </a:solidFill>
          <a:ln w="1905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3794760" y="5120640"/>
            <a:ext cx="2377440" cy="822960"/>
          </a:xfrm>
          <a:prstGeom prst="rect">
            <a:avLst/>
          </a:prstGeom>
          <a:noFill/>
        </p:spPr>
        <p:txBody>
          <a:bodyPr wrap="square" anchor="ctr">
            <a:spAutoFit/>
          </a:bodyPr>
          <a:lstStyle/>
          <a:p>
            <a:pPr algn="ctr">
              <a:defRPr sz="1300" b="1">
                <a:solidFill>
                  <a:srgbClr val="10B981"/>
                </a:solidFill>
              </a:defRPr>
            </a:pPr>
            <a:r>
              <a:t>Single Inheritance</a:t>
            </a:r>
          </a:p>
        </p:txBody>
      </p:sp>
      <p:sp>
        <p:nvSpPr>
          <p:cNvPr id="8" name="Rounded Rectangle 7"/>
          <p:cNvSpPr/>
          <p:nvPr/>
        </p:nvSpPr>
        <p:spPr>
          <a:xfrm>
            <a:off x="6492240" y="5120640"/>
            <a:ext cx="2377440" cy="822960"/>
          </a:xfrm>
          <a:prstGeom prst="roundRect">
            <a:avLst/>
          </a:prstGeom>
          <a:solidFill>
            <a:srgbClr val="1E293B"/>
          </a:solidFill>
          <a:ln w="1905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6492240" y="5120640"/>
            <a:ext cx="2377440" cy="822960"/>
          </a:xfrm>
          <a:prstGeom prst="rect">
            <a:avLst/>
          </a:prstGeom>
          <a:noFill/>
        </p:spPr>
        <p:txBody>
          <a:bodyPr wrap="square" anchor="ctr">
            <a:spAutoFit/>
          </a:bodyPr>
          <a:lstStyle/>
          <a:p>
            <a:pPr algn="ctr">
              <a:defRPr sz="1300" b="1">
                <a:solidFill>
                  <a:srgbClr val="F59E0B"/>
                </a:solidFill>
              </a:defRPr>
            </a:pPr>
            <a:r>
              <a:t>Encapsulation</a:t>
            </a:r>
          </a:p>
        </p:txBody>
      </p:sp>
      <p:sp>
        <p:nvSpPr>
          <p:cNvPr id="10" name="Rounded Rectangle 9"/>
          <p:cNvSpPr/>
          <p:nvPr/>
        </p:nvSpPr>
        <p:spPr>
          <a:xfrm>
            <a:off x="9189720" y="5120640"/>
            <a:ext cx="2377440" cy="822960"/>
          </a:xfrm>
          <a:prstGeom prst="roundRect">
            <a:avLst/>
          </a:prstGeom>
          <a:solidFill>
            <a:srgbClr val="1E293B"/>
          </a:solidFill>
          <a:ln w="19050">
            <a:solidFill>
              <a:srgbClr val="A855F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9189720" y="5120640"/>
            <a:ext cx="2377440" cy="822960"/>
          </a:xfrm>
          <a:prstGeom prst="rect">
            <a:avLst/>
          </a:prstGeom>
          <a:noFill/>
        </p:spPr>
        <p:txBody>
          <a:bodyPr wrap="square" anchor="ctr">
            <a:spAutoFit/>
          </a:bodyPr>
          <a:lstStyle/>
          <a:p>
            <a:pPr algn="ctr">
              <a:defRPr sz="1300" b="1">
                <a:solidFill>
                  <a:srgbClr val="A855F7"/>
                </a:solidFill>
              </a:defRPr>
            </a:pPr>
            <a:r>
              <a:t>File Handling (TXT)</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
        <p:cNvGrpSpPr/>
        <p:nvPr/>
      </p:nvGrpSpPr>
      <p:grpSpPr>
        <a:xfrm>
          <a:off x="0" y="0"/>
          <a:ext cx="0" cy="0"/>
          <a:chOff x="0" y="0"/>
          <a:chExt cx="0" cy="0"/>
        </a:xfrm>
      </p:grpSpPr>
      <p:sp>
        <p:nvSpPr>
          <p:cNvPr id="2" name="TextBox 1"/>
          <p:cNvSpPr txBox="1"/>
          <p:nvPr/>
        </p:nvSpPr>
        <p:spPr>
          <a:xfrm>
            <a:off x="731520" y="365760"/>
            <a:ext cx="10698480" cy="1005840"/>
          </a:xfrm>
          <a:prstGeom prst="rect">
            <a:avLst/>
          </a:prstGeom>
          <a:noFill/>
        </p:spPr>
        <p:txBody>
          <a:bodyPr wrap="square" lIns="0" tIns="0" rIns="0" bIns="0">
            <a:spAutoFit/>
          </a:bodyPr>
          <a:lstStyle/>
          <a:p>
            <a:pPr>
              <a:spcAft>
                <a:spcPts val="200"/>
              </a:spcAft>
              <a:defRPr sz="1100" b="1">
                <a:solidFill>
                  <a:srgbClr val="0284C7"/>
                </a:solidFill>
              </a:defRPr>
            </a:pPr>
            <a:r>
              <a:t>BANK MANAGEMENT SYSTEM IN C++</a:t>
            </a:r>
          </a:p>
          <a:p>
            <a:pPr>
              <a:defRPr sz="2600" b="1">
                <a:solidFill>
                  <a:srgbClr val="0F172A"/>
                </a:solidFill>
              </a:defRPr>
            </a:pPr>
            <a:r>
              <a:t>Project Overview &amp; Key Objectives</a:t>
            </a:r>
          </a:p>
        </p:txBody>
      </p:sp>
      <p:sp>
        <p:nvSpPr>
          <p:cNvPr id="3" name="Rounded Rectangle 2"/>
          <p:cNvSpPr/>
          <p:nvPr/>
        </p:nvSpPr>
        <p:spPr>
          <a:xfrm>
            <a:off x="731520" y="1554480"/>
            <a:ext cx="3328416" cy="438912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ounded Rectangle 3"/>
          <p:cNvSpPr/>
          <p:nvPr/>
        </p:nvSpPr>
        <p:spPr>
          <a:xfrm>
            <a:off x="731520" y="1554480"/>
            <a:ext cx="3328416" cy="109728"/>
          </a:xfrm>
          <a:prstGeom prst="roundRect">
            <a:avLst/>
          </a:prstGeom>
          <a:solidFill>
            <a:srgbClr val="0284C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1051560" y="1920240"/>
            <a:ext cx="2688336" cy="3657600"/>
          </a:xfrm>
          <a:prstGeom prst="rect">
            <a:avLst/>
          </a:prstGeom>
          <a:noFill/>
        </p:spPr>
        <p:txBody>
          <a:bodyPr wrap="square">
            <a:spAutoFit/>
          </a:bodyPr>
          <a:lstStyle/>
          <a:p>
            <a:pPr>
              <a:spcAft>
                <a:spcPts val="1000"/>
              </a:spcAft>
              <a:defRPr sz="1100" b="1">
                <a:solidFill>
                  <a:srgbClr val="0284C7"/>
                </a:solidFill>
              </a:defRPr>
            </a:pPr>
            <a:r>
              <a:t>OBJECTIVE 01</a:t>
            </a:r>
          </a:p>
          <a:p>
            <a:pPr>
              <a:spcAft>
                <a:spcPts val="1400"/>
              </a:spcAft>
              <a:defRPr sz="2000" b="1">
                <a:solidFill>
                  <a:srgbClr val="0F172A"/>
                </a:solidFill>
              </a:defRPr>
            </a:pPr>
            <a:r>
              <a:t>Real-World Simulation</a:t>
            </a:r>
          </a:p>
          <a:p>
            <a:pPr>
              <a:defRPr sz="1400">
                <a:solidFill>
                  <a:srgbClr val="64748B"/>
                </a:solidFill>
              </a:defRPr>
            </a:pPr>
            <a:r>
              <a:t>Simulates everyday bank tasks: opening customer accounts, deposits, withdrawals, fund transfers, and ledger lookup.</a:t>
            </a:r>
          </a:p>
        </p:txBody>
      </p:sp>
      <p:sp>
        <p:nvSpPr>
          <p:cNvPr id="6" name="Rounded Rectangle 5"/>
          <p:cNvSpPr/>
          <p:nvPr/>
        </p:nvSpPr>
        <p:spPr>
          <a:xfrm>
            <a:off x="4425696" y="1554480"/>
            <a:ext cx="3328416" cy="438912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ounded Rectangle 6"/>
          <p:cNvSpPr/>
          <p:nvPr/>
        </p:nvSpPr>
        <p:spPr>
          <a:xfrm>
            <a:off x="4425696" y="1554480"/>
            <a:ext cx="3328416" cy="109728"/>
          </a:xfrm>
          <a:prstGeom prst="round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4745736" y="1920240"/>
            <a:ext cx="2688336" cy="3657600"/>
          </a:xfrm>
          <a:prstGeom prst="rect">
            <a:avLst/>
          </a:prstGeom>
          <a:noFill/>
        </p:spPr>
        <p:txBody>
          <a:bodyPr wrap="square">
            <a:spAutoFit/>
          </a:bodyPr>
          <a:lstStyle/>
          <a:p>
            <a:pPr>
              <a:spcAft>
                <a:spcPts val="1000"/>
              </a:spcAft>
              <a:defRPr sz="1100" b="1">
                <a:solidFill>
                  <a:srgbClr val="10B981"/>
                </a:solidFill>
              </a:defRPr>
            </a:pPr>
            <a:r>
              <a:t>OBJECTIVE 02</a:t>
            </a:r>
          </a:p>
          <a:p>
            <a:pPr>
              <a:spcAft>
                <a:spcPts val="1400"/>
              </a:spcAft>
              <a:defRPr sz="2000" b="1">
                <a:solidFill>
                  <a:srgbClr val="0F172A"/>
                </a:solidFill>
              </a:defRPr>
            </a:pPr>
            <a:r>
              <a:t>Hands-on OOP Mastery</a:t>
            </a:r>
          </a:p>
          <a:p>
            <a:pPr>
              <a:defRPr sz="1400">
                <a:solidFill>
                  <a:srgbClr val="64748B"/>
                </a:solidFill>
              </a:defRPr>
            </a:pPr>
            <a:r>
              <a:t>Practices fundamental OOP concepts: Classes, Objects, Access Specifiers, Inheritance, and Method Overriding.</a:t>
            </a:r>
          </a:p>
        </p:txBody>
      </p:sp>
      <p:sp>
        <p:nvSpPr>
          <p:cNvPr id="9" name="Rounded Rectangle 8"/>
          <p:cNvSpPr/>
          <p:nvPr/>
        </p:nvSpPr>
        <p:spPr>
          <a:xfrm>
            <a:off x="8119872" y="1554480"/>
            <a:ext cx="3328416" cy="438912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ounded Rectangle 9"/>
          <p:cNvSpPr/>
          <p:nvPr/>
        </p:nvSpPr>
        <p:spPr>
          <a:xfrm>
            <a:off x="8119872" y="1554480"/>
            <a:ext cx="3328416" cy="109728"/>
          </a:xfrm>
          <a:prstGeom prst="round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8439912" y="1920240"/>
            <a:ext cx="2688336" cy="3657600"/>
          </a:xfrm>
          <a:prstGeom prst="rect">
            <a:avLst/>
          </a:prstGeom>
          <a:noFill/>
        </p:spPr>
        <p:txBody>
          <a:bodyPr wrap="square">
            <a:spAutoFit/>
          </a:bodyPr>
          <a:lstStyle/>
          <a:p>
            <a:pPr>
              <a:spcAft>
                <a:spcPts val="1000"/>
              </a:spcAft>
              <a:defRPr sz="1100" b="1">
                <a:solidFill>
                  <a:srgbClr val="F59E0B"/>
                </a:solidFill>
              </a:defRPr>
            </a:pPr>
            <a:r>
              <a:t>OBJECTIVE 03</a:t>
            </a:r>
          </a:p>
          <a:p>
            <a:pPr>
              <a:spcAft>
                <a:spcPts val="1400"/>
              </a:spcAft>
              <a:defRPr sz="2000" b="1">
                <a:solidFill>
                  <a:srgbClr val="0F172A"/>
                </a:solidFill>
              </a:defRPr>
            </a:pPr>
            <a:r>
              <a:t>Persistent File Storage</a:t>
            </a:r>
          </a:p>
          <a:p>
            <a:pPr>
              <a:defRPr sz="1400">
                <a:solidFill>
                  <a:srgbClr val="64748B"/>
                </a:solidFill>
              </a:defRPr>
            </a:pPr>
            <a:r>
              <a:t>Stores all customer accounts permanently in 'accounts.txt' so account balances are preserved across restarts.</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
        <p:cNvGrpSpPr/>
        <p:nvPr/>
      </p:nvGrpSpPr>
      <p:grpSpPr>
        <a:xfrm>
          <a:off x="0" y="0"/>
          <a:ext cx="0" cy="0"/>
          <a:chOff x="0" y="0"/>
          <a:chExt cx="0" cy="0"/>
        </a:xfrm>
      </p:grpSpPr>
      <p:sp>
        <p:nvSpPr>
          <p:cNvPr id="2" name="TextBox 1"/>
          <p:cNvSpPr txBox="1"/>
          <p:nvPr/>
        </p:nvSpPr>
        <p:spPr>
          <a:xfrm>
            <a:off x="731520" y="365760"/>
            <a:ext cx="10698480" cy="1005840"/>
          </a:xfrm>
          <a:prstGeom prst="rect">
            <a:avLst/>
          </a:prstGeom>
          <a:noFill/>
        </p:spPr>
        <p:txBody>
          <a:bodyPr wrap="square" lIns="0" tIns="0" rIns="0" bIns="0">
            <a:spAutoFit/>
          </a:bodyPr>
          <a:lstStyle/>
          <a:p>
            <a:pPr>
              <a:spcAft>
                <a:spcPts val="200"/>
              </a:spcAft>
              <a:defRPr sz="1100" b="1">
                <a:solidFill>
                  <a:srgbClr val="0284C7"/>
                </a:solidFill>
              </a:defRPr>
            </a:pPr>
            <a:r>
              <a:t>BANK MANAGEMENT SYSTEM IN C++</a:t>
            </a:r>
          </a:p>
          <a:p>
            <a:pPr>
              <a:defRPr sz="2600" b="1">
                <a:solidFill>
                  <a:srgbClr val="0F172A"/>
                </a:solidFill>
              </a:defRPr>
            </a:pPr>
            <a:r>
              <a:t>Key System Operations &amp; Capabilities</a:t>
            </a:r>
          </a:p>
        </p:txBody>
      </p:sp>
      <p:sp>
        <p:nvSpPr>
          <p:cNvPr id="3" name="Rounded Rectangle 2"/>
          <p:cNvSpPr/>
          <p:nvPr/>
        </p:nvSpPr>
        <p:spPr>
          <a:xfrm>
            <a:off x="731520" y="1554480"/>
            <a:ext cx="5120640" cy="128016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ounded Rectangle 3"/>
          <p:cNvSpPr/>
          <p:nvPr/>
        </p:nvSpPr>
        <p:spPr>
          <a:xfrm>
            <a:off x="731520" y="1554480"/>
            <a:ext cx="109728" cy="1280160"/>
          </a:xfrm>
          <a:prstGeom prst="roundRect">
            <a:avLst/>
          </a:prstGeom>
          <a:solidFill>
            <a:srgbClr val="0284C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1005840" y="1691640"/>
            <a:ext cx="4663440" cy="1005840"/>
          </a:xfrm>
          <a:prstGeom prst="rect">
            <a:avLst/>
          </a:prstGeom>
          <a:noFill/>
        </p:spPr>
        <p:txBody>
          <a:bodyPr wrap="square">
            <a:spAutoFit/>
          </a:bodyPr>
          <a:lstStyle/>
          <a:p>
            <a:pPr>
              <a:spcAft>
                <a:spcPts val="400"/>
              </a:spcAft>
              <a:defRPr sz="1600" b="1">
                <a:solidFill>
                  <a:srgbClr val="0F172A"/>
                </a:solidFill>
              </a:defRPr>
            </a:pPr>
            <a:r>
              <a:t>1. Open New Account</a:t>
            </a:r>
          </a:p>
          <a:p>
            <a:pPr>
              <a:defRPr sz="1200">
                <a:solidFill>
                  <a:srgbClr val="64748B"/>
                </a:solidFill>
              </a:defRPr>
            </a:pPr>
            <a:r>
              <a:t>Register Savings or Current account with customer name, ID, and opening deposit.</a:t>
            </a:r>
          </a:p>
        </p:txBody>
      </p:sp>
      <p:sp>
        <p:nvSpPr>
          <p:cNvPr id="6" name="Rounded Rectangle 5"/>
          <p:cNvSpPr/>
          <p:nvPr/>
        </p:nvSpPr>
        <p:spPr>
          <a:xfrm>
            <a:off x="6309360" y="1554480"/>
            <a:ext cx="5120640" cy="128016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ounded Rectangle 6"/>
          <p:cNvSpPr/>
          <p:nvPr/>
        </p:nvSpPr>
        <p:spPr>
          <a:xfrm>
            <a:off x="6309360" y="1554480"/>
            <a:ext cx="109728" cy="1280160"/>
          </a:xfrm>
          <a:prstGeom prst="round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6583680" y="1691640"/>
            <a:ext cx="4663440" cy="1005840"/>
          </a:xfrm>
          <a:prstGeom prst="rect">
            <a:avLst/>
          </a:prstGeom>
          <a:noFill/>
        </p:spPr>
        <p:txBody>
          <a:bodyPr wrap="square">
            <a:spAutoFit/>
          </a:bodyPr>
          <a:lstStyle/>
          <a:p>
            <a:pPr>
              <a:spcAft>
                <a:spcPts val="400"/>
              </a:spcAft>
              <a:defRPr sz="1600" b="1">
                <a:solidFill>
                  <a:srgbClr val="0F172A"/>
                </a:solidFill>
              </a:defRPr>
            </a:pPr>
            <a:r>
              <a:t>2. Deposit Money</a:t>
            </a:r>
          </a:p>
          <a:p>
            <a:pPr>
              <a:defRPr sz="1200">
                <a:solidFill>
                  <a:srgbClr val="64748B"/>
                </a:solidFill>
              </a:defRPr>
            </a:pPr>
            <a:r>
              <a:t>Add money to any existing account and instantly update balance.</a:t>
            </a:r>
          </a:p>
        </p:txBody>
      </p:sp>
      <p:sp>
        <p:nvSpPr>
          <p:cNvPr id="9" name="Rounded Rectangle 8"/>
          <p:cNvSpPr/>
          <p:nvPr/>
        </p:nvSpPr>
        <p:spPr>
          <a:xfrm>
            <a:off x="731520" y="3063240"/>
            <a:ext cx="5120640" cy="128016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ounded Rectangle 9"/>
          <p:cNvSpPr/>
          <p:nvPr/>
        </p:nvSpPr>
        <p:spPr>
          <a:xfrm>
            <a:off x="731520" y="3063240"/>
            <a:ext cx="109728" cy="1280160"/>
          </a:xfrm>
          <a:prstGeom prst="round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1005840" y="3200400"/>
            <a:ext cx="4663440" cy="1005840"/>
          </a:xfrm>
          <a:prstGeom prst="rect">
            <a:avLst/>
          </a:prstGeom>
          <a:noFill/>
        </p:spPr>
        <p:txBody>
          <a:bodyPr wrap="square">
            <a:spAutoFit/>
          </a:bodyPr>
          <a:lstStyle/>
          <a:p>
            <a:pPr>
              <a:spcAft>
                <a:spcPts val="400"/>
              </a:spcAft>
              <a:defRPr sz="1600" b="1">
                <a:solidFill>
                  <a:srgbClr val="0F172A"/>
                </a:solidFill>
              </a:defRPr>
            </a:pPr>
            <a:r>
              <a:t>3. Withdraw Money</a:t>
            </a:r>
          </a:p>
          <a:p>
            <a:pPr>
              <a:defRPr sz="1200">
                <a:solidFill>
                  <a:srgbClr val="64748B"/>
                </a:solidFill>
              </a:defRPr>
            </a:pPr>
            <a:r>
              <a:t>Withdraw funds with rule check: enforces $500 minimum balance for Savings.</a:t>
            </a:r>
          </a:p>
        </p:txBody>
      </p:sp>
      <p:sp>
        <p:nvSpPr>
          <p:cNvPr id="12" name="Rounded Rectangle 11"/>
          <p:cNvSpPr/>
          <p:nvPr/>
        </p:nvSpPr>
        <p:spPr>
          <a:xfrm>
            <a:off x="6309360" y="3063240"/>
            <a:ext cx="5120640" cy="128016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ounded Rectangle 12"/>
          <p:cNvSpPr/>
          <p:nvPr/>
        </p:nvSpPr>
        <p:spPr>
          <a:xfrm>
            <a:off x="6309360" y="3063240"/>
            <a:ext cx="109728" cy="1280160"/>
          </a:xfrm>
          <a:prstGeom prst="roundRect">
            <a:avLst/>
          </a:prstGeom>
          <a:solidFill>
            <a:srgbClr val="A855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6583680" y="3200400"/>
            <a:ext cx="4663440" cy="1005840"/>
          </a:xfrm>
          <a:prstGeom prst="rect">
            <a:avLst/>
          </a:prstGeom>
          <a:noFill/>
        </p:spPr>
        <p:txBody>
          <a:bodyPr wrap="square">
            <a:spAutoFit/>
          </a:bodyPr>
          <a:lstStyle/>
          <a:p>
            <a:pPr>
              <a:spcAft>
                <a:spcPts val="400"/>
              </a:spcAft>
              <a:defRPr sz="1600" b="1">
                <a:solidFill>
                  <a:srgbClr val="0F172A"/>
                </a:solidFill>
              </a:defRPr>
            </a:pPr>
            <a:r>
              <a:t>4. Check Balance</a:t>
            </a:r>
          </a:p>
          <a:p>
            <a:pPr>
              <a:defRPr sz="1200">
                <a:solidFill>
                  <a:srgbClr val="64748B"/>
                </a:solidFill>
              </a:defRPr>
            </a:pPr>
            <a:r>
              <a:t>Search by account number to view account holder name, type, and balance.</a:t>
            </a:r>
          </a:p>
        </p:txBody>
      </p:sp>
      <p:sp>
        <p:nvSpPr>
          <p:cNvPr id="15" name="Rounded Rectangle 14"/>
          <p:cNvSpPr/>
          <p:nvPr/>
        </p:nvSpPr>
        <p:spPr>
          <a:xfrm>
            <a:off x="731520" y="4572000"/>
            <a:ext cx="5120640" cy="128016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ounded Rectangle 15"/>
          <p:cNvSpPr/>
          <p:nvPr/>
        </p:nvSpPr>
        <p:spPr>
          <a:xfrm>
            <a:off x="731520" y="4572000"/>
            <a:ext cx="109728" cy="1280160"/>
          </a:xfrm>
          <a:prstGeom prst="roundRect">
            <a:avLst/>
          </a:prstGeom>
          <a:solidFill>
            <a:srgbClr val="EC48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1005840" y="4709160"/>
            <a:ext cx="4663440" cy="1005840"/>
          </a:xfrm>
          <a:prstGeom prst="rect">
            <a:avLst/>
          </a:prstGeom>
          <a:noFill/>
        </p:spPr>
        <p:txBody>
          <a:bodyPr wrap="square">
            <a:spAutoFit/>
          </a:bodyPr>
          <a:lstStyle/>
          <a:p>
            <a:pPr>
              <a:spcAft>
                <a:spcPts val="400"/>
              </a:spcAft>
              <a:defRPr sz="1600" b="1">
                <a:solidFill>
                  <a:srgbClr val="0F172A"/>
                </a:solidFill>
              </a:defRPr>
            </a:pPr>
            <a:r>
              <a:t>5. Transfer Funds</a:t>
            </a:r>
          </a:p>
          <a:p>
            <a:pPr>
              <a:defRPr sz="1200">
                <a:solidFill>
                  <a:srgbClr val="64748B"/>
                </a:solidFill>
              </a:defRPr>
            </a:pPr>
            <a:r>
              <a:t>Transfer money securely between two accounts with validation.</a:t>
            </a:r>
          </a:p>
        </p:txBody>
      </p:sp>
      <p:sp>
        <p:nvSpPr>
          <p:cNvPr id="18" name="Rounded Rectangle 17"/>
          <p:cNvSpPr/>
          <p:nvPr/>
        </p:nvSpPr>
        <p:spPr>
          <a:xfrm>
            <a:off x="6309360" y="4572000"/>
            <a:ext cx="5120640" cy="128016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Rounded Rectangle 18"/>
          <p:cNvSpPr/>
          <p:nvPr/>
        </p:nvSpPr>
        <p:spPr>
          <a:xfrm>
            <a:off x="6309360" y="4572000"/>
            <a:ext cx="109728" cy="1280160"/>
          </a:xfrm>
          <a:prstGeom prst="roundRect">
            <a:avLst/>
          </a:prstGeom>
          <a:solidFill>
            <a:srgbClr val="0284C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6583680" y="4709160"/>
            <a:ext cx="4663440" cy="1005840"/>
          </a:xfrm>
          <a:prstGeom prst="rect">
            <a:avLst/>
          </a:prstGeom>
          <a:noFill/>
        </p:spPr>
        <p:txBody>
          <a:bodyPr wrap="square">
            <a:spAutoFit/>
          </a:bodyPr>
          <a:lstStyle/>
          <a:p>
            <a:pPr>
              <a:spcAft>
                <a:spcPts val="400"/>
              </a:spcAft>
              <a:defRPr sz="1600" b="1">
                <a:solidFill>
                  <a:srgbClr val="0F172A"/>
                </a:solidFill>
              </a:defRPr>
            </a:pPr>
            <a:r>
              <a:t>6. Display All Accounts</a:t>
            </a:r>
          </a:p>
          <a:p>
            <a:pPr>
              <a:defRPr sz="1200">
                <a:solidFill>
                  <a:srgbClr val="64748B"/>
                </a:solidFill>
              </a:defRPr>
            </a:pPr>
            <a:r>
              <a:t>Prints all registered accounts neatly in a formatted table with totals.</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
        <p:cNvGrpSpPr/>
        <p:nvPr/>
      </p:nvGrpSpPr>
      <p:grpSpPr>
        <a:xfrm>
          <a:off x="0" y="0"/>
          <a:ext cx="0" cy="0"/>
          <a:chOff x="0" y="0"/>
          <a:chExt cx="0" cy="0"/>
        </a:xfrm>
      </p:grpSpPr>
      <p:sp>
        <p:nvSpPr>
          <p:cNvPr id="2" name="TextBox 1"/>
          <p:cNvSpPr txBox="1"/>
          <p:nvPr/>
        </p:nvSpPr>
        <p:spPr>
          <a:xfrm>
            <a:off x="731520" y="365760"/>
            <a:ext cx="10698480" cy="1005840"/>
          </a:xfrm>
          <a:prstGeom prst="rect">
            <a:avLst/>
          </a:prstGeom>
          <a:noFill/>
        </p:spPr>
        <p:txBody>
          <a:bodyPr wrap="square" lIns="0" tIns="0" rIns="0" bIns="0">
            <a:spAutoFit/>
          </a:bodyPr>
          <a:lstStyle/>
          <a:p>
            <a:pPr>
              <a:spcAft>
                <a:spcPts val="200"/>
              </a:spcAft>
              <a:defRPr sz="1100" b="1">
                <a:solidFill>
                  <a:srgbClr val="0284C7"/>
                </a:solidFill>
              </a:defRPr>
            </a:pPr>
            <a:r>
              <a:t>BANK MANAGEMENT SYSTEM IN C++</a:t>
            </a:r>
          </a:p>
          <a:p>
            <a:pPr>
              <a:defRPr sz="2600" b="1">
                <a:solidFill>
                  <a:srgbClr val="0F172A"/>
                </a:solidFill>
              </a:defRPr>
            </a:pPr>
            <a:r>
              <a:t>Core C++ Concepts Used in the Project</a:t>
            </a:r>
          </a:p>
        </p:txBody>
      </p:sp>
      <p:sp>
        <p:nvSpPr>
          <p:cNvPr id="3" name="Rounded Rectangle 2"/>
          <p:cNvSpPr/>
          <p:nvPr/>
        </p:nvSpPr>
        <p:spPr>
          <a:xfrm>
            <a:off x="731520" y="1554480"/>
            <a:ext cx="5120640" cy="128016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ounded Rectangle 3"/>
          <p:cNvSpPr/>
          <p:nvPr/>
        </p:nvSpPr>
        <p:spPr>
          <a:xfrm>
            <a:off x="731520" y="1554480"/>
            <a:ext cx="109728" cy="1280160"/>
          </a:xfrm>
          <a:prstGeom prst="roundRect">
            <a:avLst/>
          </a:prstGeom>
          <a:solidFill>
            <a:srgbClr val="0284C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1005840" y="1691640"/>
            <a:ext cx="4663440" cy="1005840"/>
          </a:xfrm>
          <a:prstGeom prst="rect">
            <a:avLst/>
          </a:prstGeom>
          <a:noFill/>
        </p:spPr>
        <p:txBody>
          <a:bodyPr wrap="square">
            <a:spAutoFit/>
          </a:bodyPr>
          <a:lstStyle/>
          <a:p>
            <a:pPr>
              <a:spcAft>
                <a:spcPts val="400"/>
              </a:spcAft>
              <a:defRPr sz="1600" b="1">
                <a:solidFill>
                  <a:srgbClr val="0F172A"/>
                </a:solidFill>
              </a:defRPr>
            </a:pPr>
            <a:r>
              <a:t>Classes &amp; Objects</a:t>
            </a:r>
          </a:p>
          <a:p>
            <a:pPr>
              <a:defRPr sz="1200">
                <a:solidFill>
                  <a:srgbClr val="64748B"/>
                </a:solidFill>
              </a:defRPr>
            </a:pPr>
            <a:r>
              <a:t>Account and BankAccount classes define data and methods. Objects represent individual bank customers.</a:t>
            </a:r>
          </a:p>
        </p:txBody>
      </p:sp>
      <p:sp>
        <p:nvSpPr>
          <p:cNvPr id="6" name="Rounded Rectangle 5"/>
          <p:cNvSpPr/>
          <p:nvPr/>
        </p:nvSpPr>
        <p:spPr>
          <a:xfrm>
            <a:off x="6309360" y="1554480"/>
            <a:ext cx="5120640" cy="128016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ounded Rectangle 6"/>
          <p:cNvSpPr/>
          <p:nvPr/>
        </p:nvSpPr>
        <p:spPr>
          <a:xfrm>
            <a:off x="6309360" y="1554480"/>
            <a:ext cx="109728" cy="1280160"/>
          </a:xfrm>
          <a:prstGeom prst="round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6583680" y="1691640"/>
            <a:ext cx="4663440" cy="1005840"/>
          </a:xfrm>
          <a:prstGeom prst="rect">
            <a:avLst/>
          </a:prstGeom>
          <a:noFill/>
        </p:spPr>
        <p:txBody>
          <a:bodyPr wrap="square">
            <a:spAutoFit/>
          </a:bodyPr>
          <a:lstStyle/>
          <a:p>
            <a:pPr>
              <a:spcAft>
                <a:spcPts val="400"/>
              </a:spcAft>
              <a:defRPr sz="1600" b="1">
                <a:solidFill>
                  <a:srgbClr val="0F172A"/>
                </a:solidFill>
              </a:defRPr>
            </a:pPr>
            <a:r>
              <a:t>Encapsulation</a:t>
            </a:r>
          </a:p>
          <a:p>
            <a:pPr>
              <a:defRPr sz="1200">
                <a:solidFill>
                  <a:srgbClr val="64748B"/>
                </a:solidFill>
              </a:defRPr>
            </a:pPr>
            <a:r>
              <a:t>Sensitive variables (balance, name) are kept protected/private. Access is provided safely via public functions.</a:t>
            </a:r>
          </a:p>
        </p:txBody>
      </p:sp>
      <p:sp>
        <p:nvSpPr>
          <p:cNvPr id="9" name="Rounded Rectangle 8"/>
          <p:cNvSpPr/>
          <p:nvPr/>
        </p:nvSpPr>
        <p:spPr>
          <a:xfrm>
            <a:off x="731520" y="3063240"/>
            <a:ext cx="5120640" cy="128016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ounded Rectangle 9"/>
          <p:cNvSpPr/>
          <p:nvPr/>
        </p:nvSpPr>
        <p:spPr>
          <a:xfrm>
            <a:off x="731520" y="3063240"/>
            <a:ext cx="109728" cy="1280160"/>
          </a:xfrm>
          <a:prstGeom prst="round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1005840" y="3200400"/>
            <a:ext cx="4663440" cy="1005840"/>
          </a:xfrm>
          <a:prstGeom prst="rect">
            <a:avLst/>
          </a:prstGeom>
          <a:noFill/>
        </p:spPr>
        <p:txBody>
          <a:bodyPr wrap="square">
            <a:spAutoFit/>
          </a:bodyPr>
          <a:lstStyle/>
          <a:p>
            <a:pPr>
              <a:spcAft>
                <a:spcPts val="400"/>
              </a:spcAft>
              <a:defRPr sz="1600" b="1">
                <a:solidFill>
                  <a:srgbClr val="0F172A"/>
                </a:solidFill>
              </a:defRPr>
            </a:pPr>
            <a:r>
              <a:t>Single Inheritance</a:t>
            </a:r>
          </a:p>
          <a:p>
            <a:pPr>
              <a:defRPr sz="1200">
                <a:solidFill>
                  <a:srgbClr val="64748B"/>
                </a:solidFill>
              </a:defRPr>
            </a:pPr>
            <a:r>
              <a:t>BankAccount inherits common attributes (accNo, name, balance) from the base Account class.</a:t>
            </a:r>
          </a:p>
        </p:txBody>
      </p:sp>
      <p:sp>
        <p:nvSpPr>
          <p:cNvPr id="12" name="Rounded Rectangle 11"/>
          <p:cNvSpPr/>
          <p:nvPr/>
        </p:nvSpPr>
        <p:spPr>
          <a:xfrm>
            <a:off x="6309360" y="3063240"/>
            <a:ext cx="5120640" cy="128016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ounded Rectangle 12"/>
          <p:cNvSpPr/>
          <p:nvPr/>
        </p:nvSpPr>
        <p:spPr>
          <a:xfrm>
            <a:off x="6309360" y="3063240"/>
            <a:ext cx="109728" cy="1280160"/>
          </a:xfrm>
          <a:prstGeom prst="roundRect">
            <a:avLst/>
          </a:prstGeom>
          <a:solidFill>
            <a:srgbClr val="A855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6583680" y="3200400"/>
            <a:ext cx="4663440" cy="1005840"/>
          </a:xfrm>
          <a:prstGeom prst="rect">
            <a:avLst/>
          </a:prstGeom>
          <a:noFill/>
        </p:spPr>
        <p:txBody>
          <a:bodyPr wrap="square">
            <a:spAutoFit/>
          </a:bodyPr>
          <a:lstStyle/>
          <a:p>
            <a:pPr>
              <a:spcAft>
                <a:spcPts val="400"/>
              </a:spcAft>
              <a:defRPr sz="1600" b="1">
                <a:solidFill>
                  <a:srgbClr val="0F172A"/>
                </a:solidFill>
              </a:defRPr>
            </a:pPr>
            <a:r>
              <a:t>Function Overriding</a:t>
            </a:r>
          </a:p>
          <a:p>
            <a:pPr>
              <a:defRPr sz="1200">
                <a:solidFill>
                  <a:srgbClr val="64748B"/>
                </a:solidFill>
              </a:defRPr>
            </a:pPr>
            <a:r>
              <a:t>The withdraw() function is overridden in BankAccount to enforce a $500 minimum balance for Savings accounts.</a:t>
            </a:r>
          </a:p>
        </p:txBody>
      </p:sp>
      <p:sp>
        <p:nvSpPr>
          <p:cNvPr id="15" name="Rounded Rectangle 14"/>
          <p:cNvSpPr/>
          <p:nvPr/>
        </p:nvSpPr>
        <p:spPr>
          <a:xfrm>
            <a:off x="731520" y="4572000"/>
            <a:ext cx="5120640" cy="128016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ounded Rectangle 15"/>
          <p:cNvSpPr/>
          <p:nvPr/>
        </p:nvSpPr>
        <p:spPr>
          <a:xfrm>
            <a:off x="731520" y="4572000"/>
            <a:ext cx="109728" cy="1280160"/>
          </a:xfrm>
          <a:prstGeom prst="roundRect">
            <a:avLst/>
          </a:prstGeom>
          <a:solidFill>
            <a:srgbClr val="0284C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1005840" y="4709160"/>
            <a:ext cx="4663440" cy="1005840"/>
          </a:xfrm>
          <a:prstGeom prst="rect">
            <a:avLst/>
          </a:prstGeom>
          <a:noFill/>
        </p:spPr>
        <p:txBody>
          <a:bodyPr wrap="square">
            <a:spAutoFit/>
          </a:bodyPr>
          <a:lstStyle/>
          <a:p>
            <a:pPr>
              <a:spcAft>
                <a:spcPts val="400"/>
              </a:spcAft>
              <a:defRPr sz="1600" b="1">
                <a:solidFill>
                  <a:srgbClr val="0F172A"/>
                </a:solidFill>
              </a:defRPr>
            </a:pPr>
            <a:r>
              <a:t>STL Vector</a:t>
            </a:r>
          </a:p>
          <a:p>
            <a:pPr>
              <a:defRPr sz="1200">
                <a:solidFill>
                  <a:srgbClr val="64748B"/>
                </a:solidFill>
              </a:defRPr>
            </a:pPr>
            <a:r>
              <a:t>std::vector&lt;BankAccount&gt; stores all accounts dynamically in RAM, automatically resizing as accounts are added.</a:t>
            </a:r>
          </a:p>
        </p:txBody>
      </p:sp>
      <p:sp>
        <p:nvSpPr>
          <p:cNvPr id="18" name="Rounded Rectangle 17"/>
          <p:cNvSpPr/>
          <p:nvPr/>
        </p:nvSpPr>
        <p:spPr>
          <a:xfrm>
            <a:off x="6309360" y="4572000"/>
            <a:ext cx="5120640" cy="128016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Rounded Rectangle 18"/>
          <p:cNvSpPr/>
          <p:nvPr/>
        </p:nvSpPr>
        <p:spPr>
          <a:xfrm>
            <a:off x="6309360" y="4572000"/>
            <a:ext cx="109728" cy="1280160"/>
          </a:xfrm>
          <a:prstGeom prst="round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6583680" y="4709160"/>
            <a:ext cx="4663440" cy="1005840"/>
          </a:xfrm>
          <a:prstGeom prst="rect">
            <a:avLst/>
          </a:prstGeom>
          <a:noFill/>
        </p:spPr>
        <p:txBody>
          <a:bodyPr wrap="square">
            <a:spAutoFit/>
          </a:bodyPr>
          <a:lstStyle/>
          <a:p>
            <a:pPr>
              <a:spcAft>
                <a:spcPts val="400"/>
              </a:spcAft>
              <a:defRPr sz="1600" b="1">
                <a:solidFill>
                  <a:srgbClr val="0F172A"/>
                </a:solidFill>
              </a:defRPr>
            </a:pPr>
            <a:r>
              <a:t>File Handling</a:t>
            </a:r>
          </a:p>
          <a:p>
            <a:pPr>
              <a:defRPr sz="1200">
                <a:solidFill>
                  <a:srgbClr val="64748B"/>
                </a:solidFill>
              </a:defRPr>
            </a:pPr>
            <a:r>
              <a:t>std::ifstream and std::ofstream persist account records to 'accounts.txt' across program runs.</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
        <p:cNvGrpSpPr/>
        <p:nvPr/>
      </p:nvGrpSpPr>
      <p:grpSpPr>
        <a:xfrm>
          <a:off x="0" y="0"/>
          <a:ext cx="0" cy="0"/>
          <a:chOff x="0" y="0"/>
          <a:chExt cx="0" cy="0"/>
        </a:xfrm>
      </p:grpSpPr>
      <p:sp>
        <p:nvSpPr>
          <p:cNvPr id="2" name="TextBox 1"/>
          <p:cNvSpPr txBox="1"/>
          <p:nvPr/>
        </p:nvSpPr>
        <p:spPr>
          <a:xfrm>
            <a:off x="731520" y="365760"/>
            <a:ext cx="10698480" cy="1005840"/>
          </a:xfrm>
          <a:prstGeom prst="rect">
            <a:avLst/>
          </a:prstGeom>
          <a:noFill/>
        </p:spPr>
        <p:txBody>
          <a:bodyPr wrap="square" lIns="0" tIns="0" rIns="0" bIns="0">
            <a:spAutoFit/>
          </a:bodyPr>
          <a:lstStyle/>
          <a:p>
            <a:pPr>
              <a:spcAft>
                <a:spcPts val="200"/>
              </a:spcAft>
              <a:defRPr sz="1100" b="1">
                <a:solidFill>
                  <a:srgbClr val="0284C7"/>
                </a:solidFill>
              </a:defRPr>
            </a:pPr>
            <a:r>
              <a:t>BANK MANAGEMENT SYSTEM IN C++</a:t>
            </a:r>
          </a:p>
          <a:p>
            <a:pPr>
              <a:defRPr sz="2600" b="1">
                <a:solidFill>
                  <a:srgbClr val="0F172A"/>
                </a:solidFill>
              </a:defRPr>
            </a:pPr>
            <a:r>
              <a:t>Class Hierarchy: Base &amp; Derived Classes</a:t>
            </a:r>
          </a:p>
        </p:txBody>
      </p:sp>
      <p:sp>
        <p:nvSpPr>
          <p:cNvPr id="3" name="Rounded Rectangle 2"/>
          <p:cNvSpPr/>
          <p:nvPr/>
        </p:nvSpPr>
        <p:spPr>
          <a:xfrm>
            <a:off x="731520" y="1554480"/>
            <a:ext cx="5120640" cy="438912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1005840" y="1737360"/>
            <a:ext cx="4572000" cy="4023360"/>
          </a:xfrm>
          <a:prstGeom prst="rect">
            <a:avLst/>
          </a:prstGeom>
          <a:noFill/>
        </p:spPr>
        <p:txBody>
          <a:bodyPr wrap="square">
            <a:spAutoFit/>
          </a:bodyPr>
          <a:lstStyle/>
          <a:p>
            <a:pPr>
              <a:spcAft>
                <a:spcPts val="600"/>
              </a:spcAft>
              <a:defRPr sz="1100" b="1">
                <a:solidFill>
                  <a:srgbClr val="0284C7"/>
                </a:solidFill>
              </a:defRPr>
            </a:pPr>
            <a:r>
              <a:t>BASE CLASS (PARENT)</a:t>
            </a:r>
          </a:p>
          <a:p>
            <a:pPr>
              <a:spcAft>
                <a:spcPts val="1400"/>
              </a:spcAft>
              <a:defRPr sz="2200" b="1">
                <a:solidFill>
                  <a:srgbClr val="0F172A"/>
                </a:solidFill>
              </a:defRPr>
            </a:pPr>
            <a:r>
              <a:t>class Account</a:t>
            </a:r>
          </a:p>
          <a:p>
            <a:pPr>
              <a:defRPr sz="1300">
                <a:solidFill>
                  <a:srgbClr val="0F172A"/>
                </a:solidFill>
              </a:defRPr>
            </a:pPr>
            <a:r>
              <a:t>Protected Data Members (Encapsulation):</a:t>
            </a:r>
            <a:br/>
            <a:r>
              <a:t> • int accountNumber</a:t>
            </a:r>
            <a:br/>
            <a:r>
              <a:t> • string accountHolder</a:t>
            </a:r>
            <a:br/>
            <a:r>
              <a:t> • double balance</a:t>
            </a:r>
            <a:br/>
            <a:br/>
            <a:r>
              <a:t>Public Member Functions:</a:t>
            </a:r>
            <a:br/>
            <a:r>
              <a:t> • Account() [Default Constructor]</a:t>
            </a:r>
            <a:br/>
            <a:r>
              <a:t> • Account(...) [Parameterized Constructor]</a:t>
            </a:r>
            <a:br/>
            <a:r>
              <a:t> • deposit(double amount)</a:t>
            </a:r>
            <a:br/>
            <a:r>
              <a:t> • virtual withdraw(double amount)</a:t>
            </a:r>
            <a:br/>
            <a:r>
              <a:t> • Getters: getAccountNumber(), getBalance()</a:t>
            </a:r>
          </a:p>
        </p:txBody>
      </p:sp>
      <p:sp>
        <p:nvSpPr>
          <p:cNvPr id="5" name="Rounded Rectangle 4"/>
          <p:cNvSpPr/>
          <p:nvPr/>
        </p:nvSpPr>
        <p:spPr>
          <a:xfrm>
            <a:off x="6309360" y="1554480"/>
            <a:ext cx="5120640" cy="438912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6583680" y="1737360"/>
            <a:ext cx="4572000" cy="4023360"/>
          </a:xfrm>
          <a:prstGeom prst="rect">
            <a:avLst/>
          </a:prstGeom>
          <a:noFill/>
        </p:spPr>
        <p:txBody>
          <a:bodyPr wrap="square">
            <a:spAutoFit/>
          </a:bodyPr>
          <a:lstStyle/>
          <a:p>
            <a:pPr>
              <a:spcAft>
                <a:spcPts val="600"/>
              </a:spcAft>
              <a:defRPr sz="1100" b="1">
                <a:solidFill>
                  <a:srgbClr val="10B981"/>
                </a:solidFill>
              </a:defRPr>
            </a:pPr>
            <a:r>
              <a:t>DERIVED CLASS (CHILD - INHERITS ACCOUNT)</a:t>
            </a:r>
          </a:p>
          <a:p>
            <a:pPr>
              <a:spcAft>
                <a:spcPts val="1400"/>
              </a:spcAft>
              <a:defRPr sz="2000" b="1">
                <a:solidFill>
                  <a:srgbClr val="0F172A"/>
                </a:solidFill>
              </a:defRPr>
            </a:pPr>
            <a:r>
              <a:t>class BankAccount : public Account</a:t>
            </a:r>
          </a:p>
          <a:p>
            <a:pPr>
              <a:defRPr sz="1300">
                <a:solidFill>
                  <a:srgbClr val="0F172A"/>
                </a:solidFill>
              </a:defRPr>
            </a:pPr>
            <a:r>
              <a:t>Private Data Members:</a:t>
            </a:r>
            <a:br/>
            <a:r>
              <a:t> • string accountType ("Savings" / "Current")</a:t>
            </a:r>
            <a:br/>
            <a:br/>
            <a:r>
              <a:t>Specialized Public Functions:</a:t>
            </a:r>
            <a:br/>
            <a:r>
              <a:t> • BankAccount(...) calls Account(...)</a:t>
            </a:r>
            <a:br/>
            <a:r>
              <a:t> • override withdraw(amount):</a:t>
            </a:r>
            <a:br/>
            <a:r>
              <a:t>    -&gt; Enforces $500 min balance for Savings!</a:t>
            </a:r>
            <a:br/>
            <a:r>
              <a:t> • displayAccount():</a:t>
            </a:r>
            <a:br/>
            <a:r>
              <a:t>    -&gt; Neatly prints full customer account details</a:t>
            </a:r>
            <a:br/>
            <a:r>
              <a:t> • getAccountType()</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
        <p:cNvGrpSpPr/>
        <p:nvPr/>
      </p:nvGrpSpPr>
      <p:grpSpPr>
        <a:xfrm>
          <a:off x="0" y="0"/>
          <a:ext cx="0" cy="0"/>
          <a:chOff x="0" y="0"/>
          <a:chExt cx="0" cy="0"/>
        </a:xfrm>
      </p:grpSpPr>
      <p:sp>
        <p:nvSpPr>
          <p:cNvPr id="2" name="TextBox 1"/>
          <p:cNvSpPr txBox="1"/>
          <p:nvPr/>
        </p:nvSpPr>
        <p:spPr>
          <a:xfrm>
            <a:off x="731520" y="365760"/>
            <a:ext cx="10698480" cy="1005840"/>
          </a:xfrm>
          <a:prstGeom prst="rect">
            <a:avLst/>
          </a:prstGeom>
          <a:noFill/>
        </p:spPr>
        <p:txBody>
          <a:bodyPr wrap="square" lIns="0" tIns="0" rIns="0" bIns="0">
            <a:spAutoFit/>
          </a:bodyPr>
          <a:lstStyle/>
          <a:p>
            <a:pPr>
              <a:spcAft>
                <a:spcPts val="200"/>
              </a:spcAft>
              <a:defRPr sz="1100" b="1">
                <a:solidFill>
                  <a:srgbClr val="0284C7"/>
                </a:solidFill>
              </a:defRPr>
            </a:pPr>
            <a:r>
              <a:t>BANK MANAGEMENT SYSTEM IN C++</a:t>
            </a:r>
          </a:p>
          <a:p>
            <a:pPr>
              <a:defRPr sz="2600" b="1">
                <a:solidFill>
                  <a:srgbClr val="0F172A"/>
                </a:solidFill>
              </a:defRPr>
            </a:pPr>
            <a:r>
              <a:t>File Handling &amp; Data Persistence (accounts.txt)</a:t>
            </a:r>
          </a:p>
        </p:txBody>
      </p:sp>
      <p:sp>
        <p:nvSpPr>
          <p:cNvPr id="3" name="Rounded Rectangle 2"/>
          <p:cNvSpPr/>
          <p:nvPr/>
        </p:nvSpPr>
        <p:spPr>
          <a:xfrm>
            <a:off x="731520" y="1554480"/>
            <a:ext cx="3328416" cy="438912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ounded Rectangle 3"/>
          <p:cNvSpPr/>
          <p:nvPr/>
        </p:nvSpPr>
        <p:spPr>
          <a:xfrm>
            <a:off x="731520" y="1554480"/>
            <a:ext cx="3328416" cy="109728"/>
          </a:xfrm>
          <a:prstGeom prst="roundRect">
            <a:avLst/>
          </a:prstGeom>
          <a:solidFill>
            <a:srgbClr val="0284C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1051560" y="1920240"/>
            <a:ext cx="2688336" cy="3657600"/>
          </a:xfrm>
          <a:prstGeom prst="rect">
            <a:avLst/>
          </a:prstGeom>
          <a:noFill/>
        </p:spPr>
        <p:txBody>
          <a:bodyPr wrap="square">
            <a:spAutoFit/>
          </a:bodyPr>
          <a:lstStyle/>
          <a:p>
            <a:pPr>
              <a:spcAft>
                <a:spcPts val="1000"/>
              </a:spcAft>
              <a:defRPr sz="1100" b="1">
                <a:solidFill>
                  <a:srgbClr val="0284C7"/>
                </a:solidFill>
              </a:defRPr>
            </a:pPr>
            <a:r>
              <a:t>STEP 01</a:t>
            </a:r>
          </a:p>
          <a:p>
            <a:pPr>
              <a:spcAft>
                <a:spcPts val="1400"/>
              </a:spcAft>
              <a:defRPr sz="1900" b="1">
                <a:solidFill>
                  <a:srgbClr val="0F172A"/>
                </a:solidFill>
              </a:defRPr>
            </a:pPr>
            <a:r>
              <a:t>1. Program Startup (ifstream)</a:t>
            </a:r>
          </a:p>
          <a:p>
            <a:pPr>
              <a:defRPr sz="1300">
                <a:solidFill>
                  <a:srgbClr val="64748B"/>
                </a:solidFill>
              </a:defRPr>
            </a:pPr>
            <a:r>
              <a:t>When the program launches, loadAccountsFromFile() opens 'accounts.txt'. It parses records line-by-line using stringstream and loads them into a vector&lt;BankAccount&gt;.</a:t>
            </a:r>
          </a:p>
        </p:txBody>
      </p:sp>
      <p:sp>
        <p:nvSpPr>
          <p:cNvPr id="6" name="Rounded Rectangle 5"/>
          <p:cNvSpPr/>
          <p:nvPr/>
        </p:nvSpPr>
        <p:spPr>
          <a:xfrm>
            <a:off x="4425696" y="1554480"/>
            <a:ext cx="3328416" cy="438912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ounded Rectangle 6"/>
          <p:cNvSpPr/>
          <p:nvPr/>
        </p:nvSpPr>
        <p:spPr>
          <a:xfrm>
            <a:off x="4425696" y="1554480"/>
            <a:ext cx="3328416" cy="109728"/>
          </a:xfrm>
          <a:prstGeom prst="round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4745736" y="1920240"/>
            <a:ext cx="2688336" cy="3657600"/>
          </a:xfrm>
          <a:prstGeom prst="rect">
            <a:avLst/>
          </a:prstGeom>
          <a:noFill/>
        </p:spPr>
        <p:txBody>
          <a:bodyPr wrap="square">
            <a:spAutoFit/>
          </a:bodyPr>
          <a:lstStyle/>
          <a:p>
            <a:pPr>
              <a:spcAft>
                <a:spcPts val="1000"/>
              </a:spcAft>
              <a:defRPr sz="1100" b="1">
                <a:solidFill>
                  <a:srgbClr val="F59E0B"/>
                </a:solidFill>
              </a:defRPr>
            </a:pPr>
            <a:r>
              <a:t>STEP 02</a:t>
            </a:r>
          </a:p>
          <a:p>
            <a:pPr>
              <a:spcAft>
                <a:spcPts val="1400"/>
              </a:spcAft>
              <a:defRPr sz="1900" b="1">
                <a:solidFill>
                  <a:srgbClr val="0F172A"/>
                </a:solidFill>
              </a:defRPr>
            </a:pPr>
            <a:r>
              <a:t>2. File Record Format</a:t>
            </a:r>
          </a:p>
          <a:p>
            <a:pPr>
              <a:defRPr sz="1300">
                <a:solidFill>
                  <a:srgbClr val="64748B"/>
                </a:solidFill>
              </a:defRPr>
            </a:pPr>
            <a:r>
              <a:t>Accounts are saved in pipe-delimited format:</a:t>
            </a:r>
            <a:br/>
            <a:r>
              <a:t>1001|Aarav Sharma|Savings|5000.00</a:t>
            </a:r>
            <a:br/>
            <a:r>
              <a:t>1002|Priya Patel|Savings|3200.00</a:t>
            </a:r>
            <a:br/>
            <a:r>
              <a:t>Pipe '|' allows customer names to contain spaces without parsing errors.</a:t>
            </a:r>
          </a:p>
        </p:txBody>
      </p:sp>
      <p:sp>
        <p:nvSpPr>
          <p:cNvPr id="9" name="Rounded Rectangle 8"/>
          <p:cNvSpPr/>
          <p:nvPr/>
        </p:nvSpPr>
        <p:spPr>
          <a:xfrm>
            <a:off x="8119872" y="1554480"/>
            <a:ext cx="3328416" cy="438912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ounded Rectangle 9"/>
          <p:cNvSpPr/>
          <p:nvPr/>
        </p:nvSpPr>
        <p:spPr>
          <a:xfrm>
            <a:off x="8119872" y="1554480"/>
            <a:ext cx="3328416" cy="109728"/>
          </a:xfrm>
          <a:prstGeom prst="round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8439912" y="1920240"/>
            <a:ext cx="2688336" cy="3657600"/>
          </a:xfrm>
          <a:prstGeom prst="rect">
            <a:avLst/>
          </a:prstGeom>
          <a:noFill/>
        </p:spPr>
        <p:txBody>
          <a:bodyPr wrap="square">
            <a:spAutoFit/>
          </a:bodyPr>
          <a:lstStyle/>
          <a:p>
            <a:pPr>
              <a:spcAft>
                <a:spcPts val="1000"/>
              </a:spcAft>
              <a:defRPr sz="1100" b="1">
                <a:solidFill>
                  <a:srgbClr val="10B981"/>
                </a:solidFill>
              </a:defRPr>
            </a:pPr>
            <a:r>
              <a:t>STEP 03</a:t>
            </a:r>
          </a:p>
          <a:p>
            <a:pPr>
              <a:spcAft>
                <a:spcPts val="1400"/>
              </a:spcAft>
              <a:defRPr sz="1900" b="1">
                <a:solidFill>
                  <a:srgbClr val="0F172A"/>
                </a:solidFill>
              </a:defRPr>
            </a:pPr>
            <a:r>
              <a:t>3. On Every Update &amp; Exit (ofstream)</a:t>
            </a:r>
          </a:p>
          <a:p>
            <a:pPr>
              <a:defRPr sz="1300">
                <a:solidFill>
                  <a:srgbClr val="64748B"/>
                </a:solidFill>
              </a:defRPr>
            </a:pPr>
            <a:r>
              <a:t>Whenever a new account is created, deposited, withdrawn, or transferred, saveAccountsToFile() writes the updated vector back to 'accounts.txt'. Data is never lost!</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
        <p:cNvGrpSpPr/>
        <p:nvPr/>
      </p:nvGrpSpPr>
      <p:grpSpPr>
        <a:xfrm>
          <a:off x="0" y="0"/>
          <a:ext cx="0" cy="0"/>
          <a:chOff x="0" y="0"/>
          <a:chExt cx="0" cy="0"/>
        </a:xfrm>
      </p:grpSpPr>
      <p:sp>
        <p:nvSpPr>
          <p:cNvPr id="2" name="TextBox 1"/>
          <p:cNvSpPr txBox="1"/>
          <p:nvPr/>
        </p:nvSpPr>
        <p:spPr>
          <a:xfrm>
            <a:off x="731520" y="365760"/>
            <a:ext cx="10698480" cy="1005840"/>
          </a:xfrm>
          <a:prstGeom prst="rect">
            <a:avLst/>
          </a:prstGeom>
          <a:noFill/>
        </p:spPr>
        <p:txBody>
          <a:bodyPr wrap="square" lIns="0" tIns="0" rIns="0" bIns="0">
            <a:spAutoFit/>
          </a:bodyPr>
          <a:lstStyle/>
          <a:p>
            <a:pPr>
              <a:spcAft>
                <a:spcPts val="200"/>
              </a:spcAft>
              <a:defRPr sz="1100" b="1">
                <a:solidFill>
                  <a:srgbClr val="0284C7"/>
                </a:solidFill>
              </a:defRPr>
            </a:pPr>
            <a:r>
              <a:t>BANK MANAGEMENT SYSTEM IN C++</a:t>
            </a:r>
          </a:p>
          <a:p>
            <a:pPr>
              <a:defRPr sz="2600" b="1">
                <a:solidFill>
                  <a:srgbClr val="0F172A"/>
                </a:solidFill>
              </a:defRPr>
            </a:pPr>
            <a:r>
              <a:t>Program Execution Flow</a:t>
            </a:r>
          </a:p>
        </p:txBody>
      </p:sp>
      <p:sp>
        <p:nvSpPr>
          <p:cNvPr id="3" name="Rounded Rectangle 2"/>
          <p:cNvSpPr/>
          <p:nvPr/>
        </p:nvSpPr>
        <p:spPr>
          <a:xfrm>
            <a:off x="731520" y="1554480"/>
            <a:ext cx="10698480" cy="73152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ounded Rectangle 3"/>
          <p:cNvSpPr/>
          <p:nvPr/>
        </p:nvSpPr>
        <p:spPr>
          <a:xfrm>
            <a:off x="731520" y="1554480"/>
            <a:ext cx="109728" cy="731520"/>
          </a:xfrm>
          <a:prstGeom prst="roundRect">
            <a:avLst/>
          </a:prstGeom>
          <a:solidFill>
            <a:srgbClr val="0284C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1005840" y="1664208"/>
            <a:ext cx="10241280" cy="512064"/>
          </a:xfrm>
          <a:prstGeom prst="rect">
            <a:avLst/>
          </a:prstGeom>
          <a:noFill/>
        </p:spPr>
        <p:txBody>
          <a:bodyPr wrap="square">
            <a:spAutoFit/>
          </a:bodyPr>
          <a:lstStyle/>
          <a:p>
            <a:pPr>
              <a:defRPr sz="1500" b="1">
                <a:solidFill>
                  <a:srgbClr val="0F172A"/>
                </a:solidFill>
              </a:defRPr>
            </a:pPr>
            <a:r>
              <a:t>Step 1: Start Program:   </a:t>
            </a:r>
            <a:r>
              <a:rPr sz="1300" b="0">
                <a:solidFill>
                  <a:srgbClr val="64748B"/>
                </a:solidFill>
              </a:rPr>
              <a:t>Program starts -&gt; loadAccountsFromFile() reads 'accounts.txt' into vector.</a:t>
            </a:r>
          </a:p>
        </p:txBody>
      </p:sp>
      <p:sp>
        <p:nvSpPr>
          <p:cNvPr id="6" name="Rounded Rectangle 5"/>
          <p:cNvSpPr/>
          <p:nvPr/>
        </p:nvSpPr>
        <p:spPr>
          <a:xfrm>
            <a:off x="731520" y="2450592"/>
            <a:ext cx="10698480" cy="73152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ounded Rectangle 6"/>
          <p:cNvSpPr/>
          <p:nvPr/>
        </p:nvSpPr>
        <p:spPr>
          <a:xfrm>
            <a:off x="731520" y="2450592"/>
            <a:ext cx="109728" cy="731520"/>
          </a:xfrm>
          <a:prstGeom prst="round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1005840" y="2560320"/>
            <a:ext cx="10241280" cy="512064"/>
          </a:xfrm>
          <a:prstGeom prst="rect">
            <a:avLst/>
          </a:prstGeom>
          <a:noFill/>
        </p:spPr>
        <p:txBody>
          <a:bodyPr wrap="square">
            <a:spAutoFit/>
          </a:bodyPr>
          <a:lstStyle/>
          <a:p>
            <a:pPr>
              <a:defRPr sz="1500" b="1">
                <a:solidFill>
                  <a:srgbClr val="0F172A"/>
                </a:solidFill>
              </a:defRPr>
            </a:pPr>
            <a:r>
              <a:t>Step 2: Display Menu:   </a:t>
            </a:r>
            <a:r>
              <a:rPr sz="1300" b="0">
                <a:solidFill>
                  <a:srgbClr val="64748B"/>
                </a:solidFill>
              </a:rPr>
              <a:t>Prints 7 menu options inside a continuous while(true) loop.</a:t>
            </a:r>
          </a:p>
        </p:txBody>
      </p:sp>
      <p:sp>
        <p:nvSpPr>
          <p:cNvPr id="9" name="Rounded Rectangle 8"/>
          <p:cNvSpPr/>
          <p:nvPr/>
        </p:nvSpPr>
        <p:spPr>
          <a:xfrm>
            <a:off x="731520" y="3346704"/>
            <a:ext cx="10698480" cy="73152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ounded Rectangle 9"/>
          <p:cNvSpPr/>
          <p:nvPr/>
        </p:nvSpPr>
        <p:spPr>
          <a:xfrm>
            <a:off x="731520" y="3346704"/>
            <a:ext cx="109728" cy="731520"/>
          </a:xfrm>
          <a:prstGeom prst="round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1005840" y="3456432"/>
            <a:ext cx="10241280" cy="512064"/>
          </a:xfrm>
          <a:prstGeom prst="rect">
            <a:avLst/>
          </a:prstGeom>
          <a:noFill/>
        </p:spPr>
        <p:txBody>
          <a:bodyPr wrap="square">
            <a:spAutoFit/>
          </a:bodyPr>
          <a:lstStyle/>
          <a:p>
            <a:pPr>
              <a:defRPr sz="1500" b="1">
                <a:solidFill>
                  <a:srgbClr val="0F172A"/>
                </a:solidFill>
              </a:defRPr>
            </a:pPr>
            <a:r>
              <a:t>Step 3: User Choice:   </a:t>
            </a:r>
            <a:r>
              <a:rPr sz="1300" b="0">
                <a:solidFill>
                  <a:srgbClr val="64748B"/>
                </a:solidFill>
              </a:rPr>
              <a:t>Reads choice via getIntegerInput() with automatic error handling.</a:t>
            </a:r>
          </a:p>
        </p:txBody>
      </p:sp>
      <p:sp>
        <p:nvSpPr>
          <p:cNvPr id="12" name="Rounded Rectangle 11"/>
          <p:cNvSpPr/>
          <p:nvPr/>
        </p:nvSpPr>
        <p:spPr>
          <a:xfrm>
            <a:off x="731520" y="4242816"/>
            <a:ext cx="10698480" cy="73152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ounded Rectangle 12"/>
          <p:cNvSpPr/>
          <p:nvPr/>
        </p:nvSpPr>
        <p:spPr>
          <a:xfrm>
            <a:off x="731520" y="4242816"/>
            <a:ext cx="109728" cy="731520"/>
          </a:xfrm>
          <a:prstGeom prst="roundRect">
            <a:avLst/>
          </a:prstGeom>
          <a:solidFill>
            <a:srgbClr val="A855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1005840" y="4352544"/>
            <a:ext cx="10241280" cy="512064"/>
          </a:xfrm>
          <a:prstGeom prst="rect">
            <a:avLst/>
          </a:prstGeom>
          <a:noFill/>
        </p:spPr>
        <p:txBody>
          <a:bodyPr wrap="square">
            <a:spAutoFit/>
          </a:bodyPr>
          <a:lstStyle/>
          <a:p>
            <a:pPr>
              <a:defRPr sz="1500" b="1">
                <a:solidFill>
                  <a:srgbClr val="0F172A"/>
                </a:solidFill>
              </a:defRPr>
            </a:pPr>
            <a:r>
              <a:t>Step 4: Switch-Case:   </a:t>
            </a:r>
            <a:r>
              <a:rPr sz="1300" b="0">
                <a:solidFill>
                  <a:srgbClr val="64748B"/>
                </a:solidFill>
              </a:rPr>
              <a:t>Dispatches user choice to create, deposit, withdraw, transfer, or display.</a:t>
            </a:r>
          </a:p>
        </p:txBody>
      </p:sp>
      <p:sp>
        <p:nvSpPr>
          <p:cNvPr id="15" name="Rounded Rectangle 14"/>
          <p:cNvSpPr/>
          <p:nvPr/>
        </p:nvSpPr>
        <p:spPr>
          <a:xfrm>
            <a:off x="731520" y="5138928"/>
            <a:ext cx="10698480" cy="73152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ounded Rectangle 15"/>
          <p:cNvSpPr/>
          <p:nvPr/>
        </p:nvSpPr>
        <p:spPr>
          <a:xfrm>
            <a:off x="731520" y="5138928"/>
            <a:ext cx="109728" cy="731520"/>
          </a:xfrm>
          <a:prstGeom prst="roundRect">
            <a:avLst/>
          </a:prstGeom>
          <a:solidFill>
            <a:srgbClr val="0284C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1005840" y="5248656"/>
            <a:ext cx="10241280" cy="512064"/>
          </a:xfrm>
          <a:prstGeom prst="rect">
            <a:avLst/>
          </a:prstGeom>
          <a:noFill/>
        </p:spPr>
        <p:txBody>
          <a:bodyPr wrap="square">
            <a:spAutoFit/>
          </a:bodyPr>
          <a:lstStyle/>
          <a:p>
            <a:pPr>
              <a:defRPr sz="1500" b="1">
                <a:solidFill>
                  <a:srgbClr val="0F172A"/>
                </a:solidFill>
              </a:defRPr>
            </a:pPr>
            <a:r>
              <a:t>Step 5: Auto-Save &amp; Exit:   </a:t>
            </a:r>
            <a:r>
              <a:rPr sz="1300" b="0">
                <a:solidFill>
                  <a:srgbClr val="64748B"/>
                </a:solidFill>
              </a:rPr>
              <a:t>Saves all updated accounts to 'accounts.txt' and exits cleanly on option 7.</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0F172A"/>
        </a:solidFill>
        <a:effectLst/>
      </p:bgPr>
    </p:bg>
    <p:spTree>
      <p:nvGrpSpPr>
        <p:cNvPr id="1" name=""/>
        <p:cNvGrpSpPr/>
        <p:nvPr/>
      </p:nvGrpSpPr>
      <p:grpSpPr>
        <a:xfrm>
          <a:off x="0" y="0"/>
          <a:ext cx="0" cy="0"/>
          <a:chOff x="0" y="0"/>
          <a:chExt cx="0" cy="0"/>
        </a:xfrm>
      </p:grpSpPr>
      <p:sp>
        <p:nvSpPr>
          <p:cNvPr id="2" name="TextBox 1"/>
          <p:cNvSpPr txBox="1"/>
          <p:nvPr/>
        </p:nvSpPr>
        <p:spPr>
          <a:xfrm>
            <a:off x="1097280" y="731520"/>
            <a:ext cx="9966960" cy="1005840"/>
          </a:xfrm>
          <a:prstGeom prst="rect">
            <a:avLst/>
          </a:prstGeom>
          <a:noFill/>
        </p:spPr>
        <p:txBody>
          <a:bodyPr wrap="square">
            <a:spAutoFit/>
          </a:bodyPr>
          <a:lstStyle/>
          <a:p>
            <a:pPr>
              <a:spcAft>
                <a:spcPts val="200"/>
              </a:spcAft>
              <a:defRPr sz="1100" b="1">
                <a:solidFill>
                  <a:srgbClr val="F59E0B"/>
                </a:solidFill>
              </a:defRPr>
            </a:pPr>
            <a:r>
              <a:t>VIVA VOCE PREPARATION &amp; CONCLUSION</a:t>
            </a:r>
          </a:p>
          <a:p>
            <a:pPr>
              <a:defRPr sz="2600" b="1">
                <a:solidFill>
                  <a:srgbClr val="FFFFFF"/>
                </a:solidFill>
              </a:defRPr>
            </a:pPr>
            <a:r>
              <a:t>Top Viva Questions &amp; Key Takeaways</a:t>
            </a:r>
          </a:p>
        </p:txBody>
      </p:sp>
      <p:sp>
        <p:nvSpPr>
          <p:cNvPr id="3" name="Rounded Rectangle 2"/>
          <p:cNvSpPr/>
          <p:nvPr/>
        </p:nvSpPr>
        <p:spPr>
          <a:xfrm>
            <a:off x="731520" y="2103120"/>
            <a:ext cx="3328416" cy="3931920"/>
          </a:xfrm>
          <a:prstGeom prst="roundRect">
            <a:avLst/>
          </a:prstGeom>
          <a:solidFill>
            <a:srgbClr val="1E293B"/>
          </a:solidFill>
          <a:ln w="19050">
            <a:solidFill>
              <a:srgbClr val="0284C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1005840" y="2423160"/>
            <a:ext cx="2779776" cy="3291840"/>
          </a:xfrm>
          <a:prstGeom prst="rect">
            <a:avLst/>
          </a:prstGeom>
          <a:noFill/>
        </p:spPr>
        <p:txBody>
          <a:bodyPr wrap="square">
            <a:spAutoFit/>
          </a:bodyPr>
          <a:lstStyle/>
          <a:p>
            <a:pPr>
              <a:spcAft>
                <a:spcPts val="1400"/>
              </a:spcAft>
              <a:defRPr sz="1600" b="1">
                <a:solidFill>
                  <a:srgbClr val="FFFFFF"/>
                </a:solidFill>
              </a:defRPr>
            </a:pPr>
            <a:r>
              <a:t>Q1: Why did you use Inheritance?</a:t>
            </a:r>
          </a:p>
          <a:p>
            <a:pPr>
              <a:defRPr sz="1300">
                <a:solidFill>
                  <a:srgbClr val="CBD5E1"/>
                </a:solidFill>
              </a:defRPr>
            </a:pPr>
            <a:r>
              <a:t>Answer: To achieve code reusability! The base 'Account' class holds common fields, and 'BankAccount' inherits them without duplicating code.</a:t>
            </a:r>
          </a:p>
        </p:txBody>
      </p:sp>
      <p:sp>
        <p:nvSpPr>
          <p:cNvPr id="5" name="Rounded Rectangle 4"/>
          <p:cNvSpPr/>
          <p:nvPr/>
        </p:nvSpPr>
        <p:spPr>
          <a:xfrm>
            <a:off x="4425696" y="2103120"/>
            <a:ext cx="3328416" cy="3931920"/>
          </a:xfrm>
          <a:prstGeom prst="roundRect">
            <a:avLst/>
          </a:prstGeom>
          <a:solidFill>
            <a:srgbClr val="1E293B"/>
          </a:solidFill>
          <a:ln w="1905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4700016" y="2423160"/>
            <a:ext cx="2779776" cy="3291840"/>
          </a:xfrm>
          <a:prstGeom prst="rect">
            <a:avLst/>
          </a:prstGeom>
          <a:noFill/>
        </p:spPr>
        <p:txBody>
          <a:bodyPr wrap="square">
            <a:spAutoFit/>
          </a:bodyPr>
          <a:lstStyle/>
          <a:p>
            <a:pPr>
              <a:spcAft>
                <a:spcPts val="1400"/>
              </a:spcAft>
              <a:defRPr sz="1600" b="1">
                <a:solidFill>
                  <a:srgbClr val="FFFFFF"/>
                </a:solidFill>
              </a:defRPr>
            </a:pPr>
            <a:r>
              <a:t>Q2: Why use vector instead of arrays?</a:t>
            </a:r>
          </a:p>
          <a:p>
            <a:pPr>
              <a:defRPr sz="1300">
                <a:solidFill>
                  <a:srgbClr val="CBD5E1"/>
                </a:solidFill>
              </a:defRPr>
            </a:pPr>
            <a:r>
              <a:t>Answer: std::vector is dynamic. It automatically resizes in memory as new accounts are created, avoiding fixed array limits.</a:t>
            </a:r>
          </a:p>
        </p:txBody>
      </p:sp>
      <p:sp>
        <p:nvSpPr>
          <p:cNvPr id="7" name="Rounded Rectangle 6"/>
          <p:cNvSpPr/>
          <p:nvPr/>
        </p:nvSpPr>
        <p:spPr>
          <a:xfrm>
            <a:off x="8119872" y="2103120"/>
            <a:ext cx="3328416" cy="3931920"/>
          </a:xfrm>
          <a:prstGeom prst="roundRect">
            <a:avLst/>
          </a:prstGeom>
          <a:solidFill>
            <a:srgbClr val="1E293B"/>
          </a:solidFill>
          <a:ln w="1905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8394192" y="2423160"/>
            <a:ext cx="2779776" cy="3291840"/>
          </a:xfrm>
          <a:prstGeom prst="rect">
            <a:avLst/>
          </a:prstGeom>
          <a:noFill/>
        </p:spPr>
        <p:txBody>
          <a:bodyPr wrap="square">
            <a:spAutoFit/>
          </a:bodyPr>
          <a:lstStyle/>
          <a:p>
            <a:pPr>
              <a:spcAft>
                <a:spcPts val="1400"/>
              </a:spcAft>
              <a:defRPr sz="1600" b="1">
                <a:solidFill>
                  <a:srgbClr val="FFFFFF"/>
                </a:solidFill>
              </a:defRPr>
            </a:pPr>
            <a:r>
              <a:t>Q3: How is data encapsulated?</a:t>
            </a:r>
          </a:p>
          <a:p>
            <a:pPr>
              <a:defRPr sz="1300">
                <a:solidFill>
                  <a:srgbClr val="CBD5E1"/>
                </a:solidFill>
              </a:defRPr>
            </a:pPr>
            <a:r>
              <a:t>Answer: Data members are protected/private, preventing direct modification from outside functions. Access is only through getters and methods.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TotalTime>
  <Words>1400</Words>
  <Application>Microsoft Office PowerPoint</Application>
  <PresentationFormat>Widescreen</PresentationFormat>
  <Paragraphs>96</Paragraphs>
  <Slides>8</Slides>
  <Notes>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8</vt:i4>
      </vt:variant>
    </vt:vector>
  </HeadingPairs>
  <TitlesOfParts>
    <vt:vector size="11" baseType="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sidddiquddin khatib</cp:lastModifiedBy>
  <cp:revision>2</cp:revision>
  <dcterms:created xsi:type="dcterms:W3CDTF">2013-01-27T09:14:16Z</dcterms:created>
  <dcterms:modified xsi:type="dcterms:W3CDTF">2026-10-13T07:32:22Z</dcterms:modified>
  <cp:category/>
</cp:coreProperties>
</file>